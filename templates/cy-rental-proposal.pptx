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63" r:id="rId5"/>
  </p:sldIdLst>
  <p:sldSz cx="9906000" cy="6858000" type="A4"/>
  <p:notesSz cx="6858000" cy="9144000"/>
  <p:embeddedFontLst>
    <p:embeddedFont>
      <p:font typeface="맑은 고딕" pitchFamily="50" charset="-127"/>
      <p:regular r:id="rId7"/>
      <p:bold r:id="rId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5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21" d="100"/>
          <a:sy n="121" d="100"/>
        </p:scale>
        <p:origin x="-1044" y="-9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723313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Cover architecture visual: generated specifically for this presentation with OpenAI image generation; no external source.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1CE218F8-79F0-4754-9FF4-D37A2C6A14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</p:spPr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0D79A807-DA46-4BC1-8610-8727CB1CE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5C49BD75-D027-4ADE-BBEE-48641E46026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7404FAF-2FD9-4474-89DC-EDAFCBA7DF3F}" type="datetimeFigureOut">
              <a:t>2026-08-12</a:t>
            </a:fld>
            <a:endParaRPr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C826E42F-AE26-4BA0-849D-F791BBB1E5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41BEC121-934F-4289-A593-1933FA47F0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1009F7-02FA-4584-AEDF-D3E63F358F6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88AE1289-7EF2-4EA5-8904-FC1B43DD0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C71CF608-5A2B-4AEC-B2C2-381ED9BF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마스터 텍스트 스타일을 편집합니다</a:t>
            </a:r>
          </a:p>
          <a:p>
            <a:pPr lvl="1">
              <a:buNone/>
            </a:pPr>
            <a:r>
              <a:t>둘째 수준</a:t>
            </a:r>
          </a:p>
          <a:p>
            <a:pPr lvl="2">
              <a:buNone/>
            </a:pPr>
            <a:r>
              <a:t>셋째 수준</a:t>
            </a:r>
          </a:p>
          <a:p>
            <a:pPr lvl="3">
              <a:buNone/>
            </a:pPr>
            <a:r>
              <a:t>넷째 수준</a:t>
            </a:r>
          </a:p>
          <a:p>
            <a:pPr lvl="4">
              <a:buNone/>
            </a:pPr>
            <a:r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AF6FFCFA-EB63-4E1F-8DC8-C0A93036C95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7404FAF-2FD9-4474-89DC-EDAFCBA7DF3F}" type="datetimeFigureOut">
              <a:t>2026-08-12</a:t>
            </a:fld>
            <a:endParaRPr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03DD2719-8D4D-4CD6-8616-5BD0D65DC8B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1B98420-E994-4A07-9825-2E2DB24DA9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1009F7-02FA-4584-AEDF-D3E63F358F6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6C9288C9-BA14-4B9A-AA04-17BFDDCE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F4A5CF88-86FE-4E52-BF2D-B72DD7373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마스터 텍스트 스타일을 편집합니다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8D800018-FA1B-4DF0-B0E1-804DEB73998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7404FAF-2FD9-4474-89DC-EDAFCBA7DF3F}" type="datetimeFigureOut">
              <a:t>2026-08-12</a:t>
            </a:fld>
            <a:endParaRPr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FB4FE1CB-1304-4D77-BA19-8E37F6D0CD8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25884C74-53BD-48B1-AE45-853DA8E985E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1009F7-02FA-4584-AEDF-D3E63F358F6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73B92146-7AA2-4FEE-B917-49284879A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946488EC-AAEC-4C78-BD51-773532EE1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575" y="1600201"/>
            <a:ext cx="4746625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마스터 텍스트 스타일을 편집합니다</a:t>
            </a:r>
          </a:p>
          <a:p>
            <a:pPr lvl="1">
              <a:buNone/>
            </a:pPr>
            <a:r>
              <a:t>둘째 수준</a:t>
            </a:r>
          </a:p>
          <a:p>
            <a:pPr lvl="2">
              <a:buNone/>
            </a:pPr>
            <a:r>
              <a:t>셋째 수준</a:t>
            </a:r>
          </a:p>
          <a:p>
            <a:pPr lvl="3">
              <a:buNone/>
            </a:pPr>
            <a:r>
              <a:t>넷째 수준</a:t>
            </a:r>
          </a:p>
          <a:p>
            <a:pPr lvl="4">
              <a:buNone/>
            </a:pPr>
            <a:r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8748E18F-87C4-423F-9CEE-629EAA705883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448300" y="1600201"/>
            <a:ext cx="4746625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마스터 텍스트 스타일을 편집합니다</a:t>
            </a:r>
          </a:p>
          <a:p>
            <a:pPr lvl="1">
              <a:buNone/>
            </a:pPr>
            <a:r>
              <a:t>둘째 수준</a:t>
            </a:r>
          </a:p>
          <a:p>
            <a:pPr lvl="2">
              <a:buNone/>
            </a:pPr>
            <a:r>
              <a:t>셋째 수준</a:t>
            </a:r>
          </a:p>
          <a:p>
            <a:pPr lvl="3">
              <a:buNone/>
            </a:pPr>
            <a:r>
              <a:t>넷째 수준</a:t>
            </a:r>
          </a:p>
          <a:p>
            <a:pPr lvl="4">
              <a:buNone/>
            </a:pPr>
            <a:r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140AB05C-9561-4E15-A89F-ED322E59177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7404FAF-2FD9-4474-89DC-EDAFCBA7DF3F}" type="datetimeFigureOut">
              <a:t>2026-08-12</a:t>
            </a:fld>
            <a:endParaRPr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6ABC3581-2D27-4692-8D5A-2C8ACBF0B0B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48BB1852-FAF4-47CC-92D3-B04B88F0099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1009F7-02FA-4584-AEDF-D3E63F358F6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F60B20F9-B5A2-4BDB-9976-2C960520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9BBFF6FA-2F04-494C-A1A7-FE9A47FA1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마스터 텍스트 스타일을 편집합니다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650038A8-8AE3-4C05-927B-0F1112E1687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마스터 텍스트 스타일을 편집합니다</a:t>
            </a:r>
          </a:p>
          <a:p>
            <a:pPr lvl="1">
              <a:buNone/>
            </a:pPr>
            <a:r>
              <a:t>둘째 수준</a:t>
            </a:r>
          </a:p>
          <a:p>
            <a:pPr lvl="2">
              <a:buNone/>
            </a:pPr>
            <a:r>
              <a:t>셋째 수준</a:t>
            </a:r>
          </a:p>
          <a:p>
            <a:pPr lvl="3">
              <a:buNone/>
            </a:pPr>
            <a:r>
              <a:t>넷째 수준</a:t>
            </a:r>
          </a:p>
          <a:p>
            <a:pPr lvl="4">
              <a:buNone/>
            </a:pPr>
            <a:r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87C37CB0-66DB-4008-A9DB-9C016CAB4BD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032111" y="1535113"/>
            <a:ext cx="437859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마스터 텍스트 스타일을 편집합니다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7AEE0063-2FA3-4340-A48B-4FD0C36C2725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5032111" y="2174875"/>
            <a:ext cx="4378590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마스터 텍스트 스타일을 편집합니다</a:t>
            </a:r>
          </a:p>
          <a:p>
            <a:pPr lvl="1">
              <a:buNone/>
            </a:pPr>
            <a:r>
              <a:t>둘째 수준</a:t>
            </a:r>
          </a:p>
          <a:p>
            <a:pPr lvl="2">
              <a:buNone/>
            </a:pPr>
            <a:r>
              <a:t>셋째 수준</a:t>
            </a:r>
          </a:p>
          <a:p>
            <a:pPr lvl="3">
              <a:buNone/>
            </a:pPr>
            <a:r>
              <a:t>넷째 수준</a:t>
            </a:r>
          </a:p>
          <a:p>
            <a:pPr lvl="4">
              <a:buNone/>
            </a:pPr>
            <a:r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D11A0855-EDE9-437B-959D-F16FECE7E98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7404FAF-2FD9-4474-89DC-EDAFCBA7DF3F}" type="datetimeFigureOut">
              <a:t>2026-08-12</a:t>
            </a:fld>
            <a:endParaRPr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FE7ACC33-7BCA-4F85-8D26-0D2DE5FF59A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870CF892-E137-4321-A980-25B825DBF4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1009F7-02FA-4584-AEDF-D3E63F358F6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EE9AD087-283D-4729-BE7E-8FB8F918B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FACB56B2-4D4F-401D-A018-63E9B12313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7404FAF-2FD9-4474-89DC-EDAFCBA7DF3F}" type="datetimeFigureOut">
              <a:t>2026-08-12</a:t>
            </a:fld>
            <a:endParaRPr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D9AFDBF9-BB53-4A4E-B369-B71F5FDF48E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92944A59-8C97-4789-AD00-11B5B92D74A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1009F7-02FA-4584-AEDF-D3E63F358F6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DFF845F3-4A91-468E-8CCC-B7C5620E1CC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7404FAF-2FD9-4474-89DC-EDAFCBA7DF3F}" type="datetimeFigureOut">
              <a:t>2026-08-12</a:t>
            </a:fld>
            <a:endParaRPr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EA48798A-AA4F-4959-9B77-A1E7213D98B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55EFA492-9BB9-47B3-94A6-63457A6B715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1009F7-02FA-4584-AEDF-D3E63F358F6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78EF8C52-F034-4255-9131-FBF245421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52C2B608-6D36-4438-9C49-30041E3EB6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2971" y="273051"/>
            <a:ext cx="5537729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마스터 텍스트 스타일을 편집합니다</a:t>
            </a:r>
          </a:p>
          <a:p>
            <a:pPr lvl="1">
              <a:buNone/>
            </a:pPr>
            <a:r>
              <a:t>둘째 수준</a:t>
            </a:r>
          </a:p>
          <a:p>
            <a:pPr lvl="2">
              <a:buNone/>
            </a:pPr>
            <a:r>
              <a:t>셋째 수준</a:t>
            </a:r>
          </a:p>
          <a:p>
            <a:pPr lvl="3">
              <a:buNone/>
            </a:pPr>
            <a:r>
              <a:t>넷째 수준</a:t>
            </a:r>
          </a:p>
          <a:p>
            <a:pPr lvl="4">
              <a:buNone/>
            </a:pPr>
            <a:r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ED301486-8C47-4006-8B55-9BB082C8FC4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95300" y="1435101"/>
            <a:ext cx="325900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마스터 텍스트 스타일을 편집합니다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9056A396-591D-4C75-8E3A-BD7850BF1C1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7404FAF-2FD9-4474-89DC-EDAFCBA7DF3F}" type="datetimeFigureOut">
              <a:t>2026-08-12</a:t>
            </a:fld>
            <a:endParaRPr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E31B1CB2-61D1-4928-AC85-8EEF5A1390C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3C33192A-A1F1-4868-847D-379C402558C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1009F7-02FA-4584-AEDF-D3E63F358F6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AEB8D5E4-62C3-4B53-9F89-376999FFE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7B8C7265-B2B9-4E5D-8D59-143BFD98E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57D3AF9A-496B-4374-8E5B-73C51755DFE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941645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마스터 텍스트 스타일을 편집합니다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AC2E2CC9-62C9-4C20-BA89-52038380F5D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7404FAF-2FD9-4474-89DC-EDAFCBA7DF3F}" type="datetimeFigureOut">
              <a:t>2026-08-12</a:t>
            </a:fld>
            <a:endParaRPr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7021A2BC-5934-4653-8282-694A26C578F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EF97E3DC-42F2-4685-BFD8-7F53FCDF021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1009F7-02FA-4584-AEDF-D3E63F358F6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6CDC75C-4605-4045-942D-C31CDFEBA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BFA1940C-74BA-426D-ADC3-E58AAE4A7B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마스터 텍스트 스타일을 편집합니다</a:t>
            </a:r>
          </a:p>
          <a:p>
            <a:pPr lvl="1">
              <a:buNone/>
            </a:pPr>
            <a:r>
              <a:t>둘째 수준</a:t>
            </a:r>
          </a:p>
          <a:p>
            <a:pPr lvl="2">
              <a:buNone/>
            </a:pPr>
            <a:r>
              <a:t>셋째 수준</a:t>
            </a:r>
          </a:p>
          <a:p>
            <a:pPr lvl="3">
              <a:buNone/>
            </a:pPr>
            <a:r>
              <a:t>넷째 수준</a:t>
            </a:r>
          </a:p>
          <a:p>
            <a:pPr lvl="4">
              <a:buNone/>
            </a:pPr>
            <a:r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D014AD9B-F6C9-4CDE-BB1D-5AD15B0A810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7404FAF-2FD9-4474-89DC-EDAFCBA7DF3F}" type="datetimeFigureOut">
              <a:t>2026-08-12</a:t>
            </a:fld>
            <a:endParaRPr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13E5E5E0-B3E9-4D8D-A2C3-4059EAA41A3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71041E98-DB5E-4D4C-94B9-657809DFB9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1009F7-02FA-4584-AEDF-D3E63F358F6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CC6CBB4E-9FA6-4C8E-868E-AE8437BF6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0337" y="274639"/>
            <a:ext cx="2414588" cy="5851525"/>
          </a:xfrm>
        </p:spPr>
        <p:txBody>
          <a:bodyPr vert="eaVert"/>
          <a:lstStyle/>
          <a:p>
            <a:r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1F1C5186-B355-44A1-9645-876B1C29FC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6575" y="274639"/>
            <a:ext cx="7078663" cy="5851525"/>
          </a:xfrm>
        </p:spPr>
        <p:txBody>
          <a:bodyPr vert="eaVert"/>
          <a:lstStyle/>
          <a:p>
            <a:pPr lvl="0">
              <a:buNone/>
            </a:pPr>
            <a:r>
              <a:t>마스터 텍스트 스타일을 편집합니다</a:t>
            </a:r>
          </a:p>
          <a:p>
            <a:pPr lvl="1">
              <a:buNone/>
            </a:pPr>
            <a:r>
              <a:t>둘째 수준</a:t>
            </a:r>
          </a:p>
          <a:p>
            <a:pPr lvl="2">
              <a:buNone/>
            </a:pPr>
            <a:r>
              <a:t>셋째 수준</a:t>
            </a:r>
          </a:p>
          <a:p>
            <a:pPr lvl="3">
              <a:buNone/>
            </a:pPr>
            <a:r>
              <a:t>넷째 수준</a:t>
            </a:r>
          </a:p>
          <a:p>
            <a:pPr lvl="4">
              <a:buNone/>
            </a:pPr>
            <a:r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587B076B-D460-4E77-90B3-4A92B01EAD4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7404FAF-2FD9-4474-89DC-EDAFCBA7DF3F}" type="datetimeFigureOut">
              <a:t>2026-08-12</a:t>
            </a:fld>
            <a:endParaRPr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B7A8AA0F-3148-4B35-AEC0-CA2664EC21F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28702F50-7204-4E1E-9167-E95BB0A36E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1009F7-02FA-4584-AEDF-D3E63F358F6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xmlns="" id="{E2156DD8-4397-48F4-8B46-E529277C6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1D603F52-7A92-49D9-B780-BCB62AAA0F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마스터 텍스트 스타일을 편집합니다</a:t>
            </a:r>
          </a:p>
          <a:p>
            <a:pPr lvl="1">
              <a:buNone/>
            </a:pPr>
            <a:r>
              <a:t>둘째 수준</a:t>
            </a:r>
          </a:p>
          <a:p>
            <a:pPr lvl="2">
              <a:buNone/>
            </a:pPr>
            <a:r>
              <a:t>셋째 수준</a:t>
            </a:r>
          </a:p>
          <a:p>
            <a:pPr lvl="3">
              <a:buNone/>
            </a:pPr>
            <a:r>
              <a:t>넷째 수준</a:t>
            </a:r>
          </a:p>
          <a:p>
            <a:pPr lvl="4">
              <a:buNone/>
            </a:pPr>
            <a:r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0C00961A-74BB-4797-A3D5-40B91B4BBFA9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404FAF-2FD9-4474-89DC-EDAFCBA7DF3F}" type="datetimeFigureOut">
              <a:t>2026-08-12</a:t>
            </a:fld>
            <a:endParaRPr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381C202E-DD8A-4E95-8D70-CD13B714AC0C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C52B1F42-B0F9-437C-91B6-CADEC8A194A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1009F7-02FA-4584-AEDF-D3E63F358F6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9905999" cy="6858000"/>
          </a:xfrm>
          <a:prstGeom prst="rect">
            <a:avLst/>
          </a:prstGeom>
        </p:spPr>
      </p:pic>
      <p:pic>
        <p:nvPicPr>
          <p:cNvPr id="1031" name="Picture 7" descr="C:\Users\박찬영\Desktop\C.Y 부동산\2.로고, 명함\로고\로고_박찬영(251227)-04.png"/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40000"/>
                    </a14:imgEffect>
                    <a14:imgEffect>
                      <a14:brightnessContrast bright="100000" contrast="5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472" y="404664"/>
            <a:ext cx="6319772" cy="1369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043282" y="2132856"/>
            <a:ext cx="3909717" cy="861774"/>
          </a:xfrm>
          <a:prstGeom prst="rect">
            <a:avLst/>
          </a:prstGeom>
          <a:solidFill>
            <a:srgbClr val="C0504D">
              <a:alpha val="4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 dirty="0" smtClean="0">
                <a:solidFill>
                  <a:schemeClr val="bg1">
                    <a:lumMod val="85000"/>
                  </a:schemeClr>
                </a:solidFill>
              </a:rPr>
              <a:t>임대제안서</a:t>
            </a:r>
            <a:endParaRPr lang="ko-KR" altLang="en-US" sz="50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854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직사각형 122">
            <a:extLst>
              <a:ext uri="{FF2B5EF4-FFF2-40B4-BE49-F238E27FC236}">
                <a16:creationId xmlns:a16="http://schemas.microsoft.com/office/drawing/2014/main" xmlns="" id="{E5A6815E-2054-46DB-A3DA-2BBA2853593B}"/>
              </a:ext>
            </a:extLst>
          </p:cNvPr>
          <p:cNvSpPr>
            <a:spLocks noGrp="1"/>
          </p:cNvSpPr>
          <p:nvPr/>
        </p:nvSpPr>
        <p:spPr>
          <a:xfrm>
            <a:off x="166654" y="1374186"/>
            <a:ext cx="3389346" cy="213741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3175">
            <a:solidFill>
              <a:srgbClr val="0F1E3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xmlns="" id="{3480AD2F-6606-4537-A7A0-1C44ADFC135C}"/>
              </a:ext>
            </a:extLst>
          </p:cNvPr>
          <p:cNvSpPr>
            <a:spLocks noGrp="1"/>
          </p:cNvSpPr>
          <p:nvPr/>
        </p:nvSpPr>
        <p:spPr>
          <a:xfrm>
            <a:off x="166654" y="142852"/>
            <a:ext cx="9572692" cy="785818"/>
          </a:xfrm>
          <a:prstGeom prst="rect">
            <a:avLst/>
          </a:prstGeom>
          <a:solidFill>
            <a:srgbClr val="0F1E36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05B571BF-5635-4DB2-9FBA-D4FB98C9B0D8}"/>
              </a:ext>
            </a:extLst>
          </p:cNvPr>
          <p:cNvSpPr>
            <a:spLocks noGrp="1"/>
          </p:cNvSpPr>
          <p:nvPr/>
        </p:nvSpPr>
        <p:spPr>
          <a:xfrm>
            <a:off x="238092" y="247743"/>
            <a:ext cx="2505814" cy="584775"/>
          </a:xfrm>
          <a:prstGeom prst="rect">
            <a:avLst/>
          </a:prstGeom>
          <a:noFill/>
          <a:ln>
            <a:solidFill/>
          </a:ln>
        </p:spPr>
        <p:txBody>
          <a:bodyPr wrap="none">
            <a:spAutoFit/>
          </a:bodyPr>
          <a:lstStyle/>
          <a:p>
            <a:r>
              <a:rPr sz="3200" cap="all">
                <a:solidFill>
                  <a:srgbClr val="FFBD00"/>
                </a:solidFill>
                <a:latin typeface="에스코어 드림 5 Medium"/>
                <a:ea typeface="에스코어 드림 5 Medium"/>
                <a:cs typeface="에스코어 드림 5 Medium"/>
              </a:rPr>
              <a:t>#1 킴스빌딩</a:t>
            </a:r>
            <a:endParaRPr sz="2400" cap="all">
              <a:solidFill>
                <a:schemeClr val="bg1"/>
              </a:solidFill>
              <a:latin typeface="에스코어 드림 5 Medium"/>
              <a:ea typeface="에스코어 드림 5 Medium"/>
              <a:cs typeface="에스코어 드림 5 Medium"/>
            </a:endParaRPr>
          </a:p>
        </p:txBody>
      </p:sp>
      <p:graphicFrame>
        <p:nvGraphicFramePr>
          <p:cNvPr id="164" name="Group 58"/>
          <p:cNvGraphicFramePr/>
          <p:nvPr/>
        </p:nvGraphicFramePr>
        <p:xfrm>
          <a:off x="163554" y="3598908"/>
          <a:ext cx="3392446" cy="2854427"/>
        </p:xfrm>
        <a:graphic>
          <a:graphicData uri="http://schemas.openxmlformats.org/drawingml/2006/table">
            <a:tbl>
              <a:tblPr/>
              <a:tblGrid>
                <a:gridCol w="1076286"/>
                <a:gridCol w="2316160"/>
              </a:tblGrid>
              <a:tr h="471410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n-lt"/>
                          <a:ea typeface="+mn-lt"/>
                          <a:cs typeface="+mn-lt"/>
                        </a:rPr>
                        <a:t>물건주소</a:t>
                      </a:r>
                    </a:p>
                  </a:txBody>
                  <a:tcPr marL="91439" marR="91439" marT="45728" marB="45728" anchor="ctr" horzOverflow="overflow">
                    <a:lnL w="12700" cmpd="sng">
                      <a:noFill/>
                      <a:prstDash val="solid"/>
                    </a:lnL>
                    <a:lnR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>
                          <a:latin typeface="+mn-lt"/>
                          <a:ea typeface="+mn-lt"/>
                          <a:cs typeface="+mn-lt"/>
                        </a:rPr>
                        <a:t>서울시 송파구 거여동 566-5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497377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n-lt"/>
                          <a:ea typeface="+mn-lt"/>
                          <a:cs typeface="+mn-lt"/>
                        </a:rPr>
                        <a:t>층 수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bg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noFill/>
                      <a:prstDash val="solid"/>
                    </a:lnL>
                    <a:lnR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  <a:ea typeface="+mn-lt"/>
                          <a:cs typeface="+mn-lt"/>
                        </a:rPr>
                        <a:t>5층 단독층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471410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n-lt"/>
                          <a:ea typeface="+mn-lt"/>
                          <a:cs typeface="+mn-lt"/>
                        </a:rPr>
                        <a:t>면 적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bg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noFill/>
                      <a:prstDash val="solid"/>
                    </a:lnL>
                    <a:lnR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  <a:ea typeface="+mn-lt"/>
                          <a:cs typeface="+mn-lt"/>
                        </a:rPr>
                        <a:t>실 15평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471410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n-lt"/>
                          <a:ea typeface="+mn-lt"/>
                          <a:cs typeface="+mn-lt"/>
                        </a:rPr>
                        <a:t>주</a:t>
                      </a:r>
                      <a:r>
                        <a:rPr sz="8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n-lt"/>
                          <a:ea typeface="+mn-lt"/>
                          <a:cs typeface="+mn-lt"/>
                        </a:rPr>
                        <a:t>  </a:t>
                      </a: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n-lt"/>
                          <a:ea typeface="+mn-lt"/>
                          <a:cs typeface="+mn-lt"/>
                        </a:rPr>
                        <a:t>차</a:t>
                      </a:r>
                      <a:r>
                        <a:rPr sz="8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n-lt"/>
                          <a:ea typeface="+mn-lt"/>
                          <a:cs typeface="+mn-lt"/>
                        </a:rPr>
                        <a:t>  </a:t>
                      </a: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n-lt"/>
                          <a:ea typeface="+mn-lt"/>
                          <a:cs typeface="+mn-lt"/>
                        </a:rPr>
                        <a:t>장</a:t>
                      </a:r>
                    </a:p>
                  </a:txBody>
                  <a:tcPr marL="91439" marR="91439" marT="45728" marB="45728" anchor="ctr" horzOverflow="overflow">
                    <a:lnL w="12700" cmpd="sng">
                      <a:noFill/>
                      <a:prstDash val="solid"/>
                    </a:lnL>
                    <a:lnR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  <a:ea typeface="+mn-lt"/>
                          <a:cs typeface="+mn-lt"/>
                        </a:rPr>
                        <a:t>무료주차 1대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471410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n-lt"/>
                          <a:ea typeface="+mn-lt"/>
                          <a:cs typeface="+mn-lt"/>
                        </a:rPr>
                        <a:t>엘리베이터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bg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noFill/>
                      <a:prstDash val="solid"/>
                    </a:lnL>
                    <a:lnR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  <a:ea typeface="+mn-lt"/>
                          <a:cs typeface="+mn-lt"/>
                        </a:rPr>
                        <a:t>有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471410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n-lt"/>
                          <a:ea typeface="+mn-lt"/>
                          <a:cs typeface="+mn-lt"/>
                        </a:rPr>
                        <a:t>화 장 실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bg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noFill/>
                      <a:prstDash val="solid"/>
                    </a:lnL>
                    <a:lnR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  <a:ea typeface="+mn-lt"/>
                          <a:cs typeface="+mn-lt"/>
                        </a:rPr>
                        <a:t>외부 공용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38" name="직사각형 137">
            <a:extLst>
              <a:ext uri="{FF2B5EF4-FFF2-40B4-BE49-F238E27FC236}">
                <a16:creationId xmlns:a16="http://schemas.microsoft.com/office/drawing/2014/main" xmlns="" id="{74FDBEEB-10D0-4DEC-90C7-324C181DE7DE}"/>
              </a:ext>
            </a:extLst>
          </p:cNvPr>
          <p:cNvSpPr>
            <a:spLocks noGrp="1"/>
          </p:cNvSpPr>
          <p:nvPr/>
        </p:nvSpPr>
        <p:spPr>
          <a:xfrm>
            <a:off x="3630266" y="1356574"/>
            <a:ext cx="3443633" cy="2143140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 w="3175">
            <a:solidFill>
              <a:srgbClr val="0F1E3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xmlns="" id="{5BA2E362-0F2D-458E-89EE-0A5389D54BB8}"/>
              </a:ext>
            </a:extLst>
          </p:cNvPr>
          <p:cNvSpPr>
            <a:spLocks noGrp="1"/>
          </p:cNvSpPr>
          <p:nvPr/>
        </p:nvSpPr>
        <p:spPr>
          <a:xfrm>
            <a:off x="163554" y="3573016"/>
            <a:ext cx="3392446" cy="2880320"/>
          </a:xfrm>
          <a:prstGeom prst="rect">
            <a:avLst/>
          </a:prstGeom>
          <a:noFill/>
          <a:ln w="3175">
            <a:solidFill>
              <a:srgbClr val="0F1E3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67" name="Picture 3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376302" y="6284376"/>
            <a:ext cx="2526357" cy="588186"/>
          </a:xfrm>
          <a:prstGeom prst="rect">
            <a:avLst/>
          </a:prstGeom>
        </p:spPr>
      </p:pic>
      <p:sp>
        <p:nvSpPr>
          <p:cNvPr id="147" name="Rounded Rectangle 146">
            <a:extLst>
              <a:ext uri="{FF2B5EF4-FFF2-40B4-BE49-F238E27FC236}">
                <a16:creationId xmlns:a16="http://schemas.microsoft.com/office/drawing/2014/main" xmlns="" id="{9FA29E5E-4594-4692-9E09-64BE27D805B8}"/>
              </a:ext>
            </a:extLst>
          </p:cNvPr>
          <p:cNvSpPr>
            <a:spLocks noGrp="1"/>
          </p:cNvSpPr>
          <p:nvPr/>
        </p:nvSpPr>
        <p:spPr>
          <a:xfrm>
            <a:off x="7243832" y="997637"/>
            <a:ext cx="2029648" cy="30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849A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50800" rIns="76200" bIns="50800" anchor="ctr"/>
          <a:lstStyle/>
          <a:p>
            <a:pPr algn="l">
              <a:buNone/>
            </a:pPr>
            <a:r>
              <a:rPr sz="1400" b="1">
                <a:solidFill>
                  <a:srgbClr val="0F1E36"/>
                </a:solidFill>
                <a:latin typeface="Malgun Gothic"/>
                <a:ea typeface="Malgun Gothic"/>
                <a:cs typeface="Malgun Gothic"/>
              </a:rPr>
              <a:t># 금액 </a:t>
            </a:r>
            <a:r>
              <a:rPr sz="800" b="1">
                <a:solidFill>
                  <a:srgbClr val="0F1E36"/>
                </a:solidFill>
                <a:latin typeface="Malgun Gothic"/>
                <a:ea typeface="Malgun Gothic"/>
                <a:cs typeface="Malgun Gothic"/>
              </a:rPr>
              <a:t>(단위: 만원)</a:t>
            </a:r>
          </a:p>
        </p:txBody>
      </p:sp>
      <p:sp>
        <p:nvSpPr>
          <p:cNvPr id="156" name="Rounded Rectangle 155">
            <a:extLst>
              <a:ext uri="{FF2B5EF4-FFF2-40B4-BE49-F238E27FC236}">
                <a16:creationId xmlns:a16="http://schemas.microsoft.com/office/drawing/2014/main" xmlns="" id="{85962C4D-A1C7-4375-9CA9-2D0C72F947C3}"/>
              </a:ext>
            </a:extLst>
          </p:cNvPr>
          <p:cNvSpPr>
            <a:spLocks noGrp="1"/>
          </p:cNvSpPr>
          <p:nvPr/>
        </p:nvSpPr>
        <p:spPr>
          <a:xfrm>
            <a:off x="3737413" y="3591526"/>
            <a:ext cx="1500000" cy="30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849A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50800" rIns="76200" bIns="50800" anchor="ctr"/>
          <a:lstStyle/>
          <a:p>
            <a:pPr algn="l">
              <a:buNone/>
            </a:pPr>
            <a:r>
              <a:rPr sz="1400" b="1">
                <a:solidFill>
                  <a:srgbClr val="0F1E36"/>
                </a:solidFill>
                <a:latin typeface="Malgun Gothic"/>
                <a:ea typeface="Malgun Gothic"/>
                <a:cs typeface="Malgun Gothic"/>
              </a:rPr>
              <a:t># 특 징</a:t>
            </a:r>
          </a:p>
        </p:txBody>
      </p:sp>
      <p:sp>
        <p:nvSpPr>
          <p:cNvPr id="24" name="Rounded Rectangle 146">
            <a:extLst>
              <a:ext uri="{FF2B5EF4-FFF2-40B4-BE49-F238E27FC236}">
                <a16:creationId xmlns:a16="http://schemas.microsoft.com/office/drawing/2014/main" xmlns="" id="{EEE8C3DA-C5FE-43E4-896D-3683F817F1C9}"/>
              </a:ext>
            </a:extLst>
          </p:cNvPr>
          <p:cNvSpPr>
            <a:spLocks noGrp="1"/>
          </p:cNvSpPr>
          <p:nvPr/>
        </p:nvSpPr>
        <p:spPr>
          <a:xfrm>
            <a:off x="163554" y="997637"/>
            <a:ext cx="2050000" cy="30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849A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50800" rIns="76200" bIns="50800" anchor="ctr"/>
          <a:lstStyle/>
          <a:p>
            <a:pPr algn="l">
              <a:buNone/>
            </a:pPr>
            <a:r>
              <a:rPr sz="1400" b="1">
                <a:solidFill>
                  <a:srgbClr val="0F1E36"/>
                </a:solidFill>
                <a:latin typeface="Malgun Gothic"/>
                <a:ea typeface="Malgun Gothic"/>
                <a:cs typeface="Malgun Gothic"/>
              </a:rPr>
              <a:t># 외관</a:t>
            </a:r>
          </a:p>
        </p:txBody>
      </p:sp>
      <p:sp>
        <p:nvSpPr>
          <p:cNvPr id="26" name="Rounded Rectangle 146">
            <a:extLst>
              <a:ext uri="{FF2B5EF4-FFF2-40B4-BE49-F238E27FC236}">
                <a16:creationId xmlns:a16="http://schemas.microsoft.com/office/drawing/2014/main" xmlns="" id="{9AE65728-EB84-4AB6-ADF2-C8BC527A77B7}"/>
              </a:ext>
            </a:extLst>
          </p:cNvPr>
          <p:cNvSpPr>
            <a:spLocks noGrp="1"/>
          </p:cNvSpPr>
          <p:nvPr/>
        </p:nvSpPr>
        <p:spPr>
          <a:xfrm>
            <a:off x="3630267" y="997637"/>
            <a:ext cx="2050000" cy="30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849A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tIns="50800" rIns="76200" bIns="50800" anchor="ctr"/>
          <a:lstStyle/>
          <a:p>
            <a:pPr algn="l">
              <a:buNone/>
            </a:pPr>
            <a:r>
              <a:rPr sz="1400" b="1">
                <a:solidFill>
                  <a:srgbClr val="0F1E36"/>
                </a:solidFill>
                <a:latin typeface="Malgun Gothic"/>
                <a:ea typeface="Malgun Gothic"/>
                <a:cs typeface="Malgun Gothic"/>
              </a:rPr>
              <a:t># 위치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xmlns="" id="{1C8D42FB-7BDB-4F17-9B32-1EDAE53695A5}"/>
              </a:ext>
            </a:extLst>
          </p:cNvPr>
          <p:cNvSpPr>
            <a:spLocks noGrp="1"/>
          </p:cNvSpPr>
          <p:nvPr/>
        </p:nvSpPr>
        <p:spPr>
          <a:xfrm>
            <a:off x="7243832" y="1357298"/>
            <a:ext cx="2495514" cy="2142416"/>
          </a:xfrm>
          <a:prstGeom prst="rect">
            <a:avLst/>
          </a:prstGeom>
          <a:noFill/>
          <a:ln w="3175">
            <a:solidFill>
              <a:srgbClr val="0F1E3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graphicFrame>
        <p:nvGraphicFramePr>
          <p:cNvPr id="173" name="표 1"/>
          <p:cNvGraphicFramePr/>
          <p:nvPr/>
        </p:nvGraphicFramePr>
        <p:xfrm>
          <a:off x="7243832" y="1374185"/>
          <a:ext cx="2495514" cy="2125530"/>
        </p:xfrm>
        <a:graphic>
          <a:graphicData uri="http://schemas.openxmlformats.org/drawingml/2006/table">
            <a:tbl>
              <a:tblPr/>
              <a:tblGrid>
                <a:gridCol w="1093544"/>
                <a:gridCol w="1401970"/>
              </a:tblGrid>
              <a:tr h="524164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n-lt"/>
                          <a:ea typeface="+mn-lt"/>
                          <a:cs typeface="+mn-lt"/>
                        </a:rPr>
                        <a:t>보증금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bg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noFill/>
                      <a:prstDash val="solid"/>
                    </a:lnL>
                    <a:lnR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  <a:ea typeface="+mn-lt"/>
                          <a:cs typeface="+mn-lt"/>
                        </a:rPr>
                        <a:t>1000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553038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n-lt"/>
                          <a:ea typeface="+mn-lt"/>
                          <a:cs typeface="+mn-lt"/>
                        </a:rPr>
                        <a:t>월세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bg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noFill/>
                      <a:prstDash val="solid"/>
                    </a:lnL>
                    <a:lnR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  <a:ea typeface="+mn-lt"/>
                          <a:cs typeface="+mn-lt"/>
                        </a:rPr>
                        <a:t>110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524164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n-lt"/>
                          <a:ea typeface="+mn-lt"/>
                          <a:cs typeface="+mn-lt"/>
                        </a:rPr>
                        <a:t>관리비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bg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noFill/>
                      <a:prstDash val="solid"/>
                    </a:lnL>
                    <a:lnR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  <a:ea typeface="+mn-lt"/>
                          <a:cs typeface="+mn-lt"/>
                        </a:rPr>
                        <a:t>10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524164"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bg1"/>
                          </a:solidFill>
                          <a:latin typeface="+mn-lt"/>
                          <a:ea typeface="+mn-lt"/>
                          <a:cs typeface="+mn-lt"/>
                        </a:rPr>
                        <a:t>월세 + 관리비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bg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noFill/>
                      <a:prstDash val="solid"/>
                    </a:lnL>
                    <a:lnR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  <a:ea typeface="+mn-lt"/>
                          <a:cs typeface="+mn-lt"/>
                        </a:rPr>
                        <a:t>120 , (vat 별도)</a:t>
                      </a:r>
                      <a:endParaRPr sz="1100" b="1" i="0" u="none" cap="none" baseline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xmlns="" id="{7F06FE68-A664-41ED-9BA7-9C5B1D5BEF40}"/>
              </a:ext>
            </a:extLst>
          </p:cNvPr>
          <p:cNvSpPr>
            <a:spLocks noGrp="1"/>
          </p:cNvSpPr>
          <p:nvPr/>
        </p:nvSpPr>
        <p:spPr>
          <a:xfrm>
            <a:off x="3737413" y="4001142"/>
            <a:ext cx="5752092" cy="202406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graphicFrame>
        <p:nvGraphicFramePr>
          <p:cNvPr id="175" name="표 2"/>
          <p:cNvGraphicFramePr/>
          <p:nvPr/>
        </p:nvGraphicFramePr>
        <p:xfrm>
          <a:off x="3737413" y="4001142"/>
          <a:ext cx="5752092" cy="2106184"/>
        </p:xfrm>
        <a:graphic>
          <a:graphicData uri="http://schemas.openxmlformats.org/drawingml/2006/table">
            <a:tbl>
              <a:tblPr/>
              <a:tblGrid>
                <a:gridCol w="209114"/>
                <a:gridCol w="5542978"/>
              </a:tblGrid>
              <a:tr h="2024068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sz="1300" b="1" i="0" u="none" cap="none" baseline="0">
                        <a:ln>
                          <a:noFill/>
                        </a:ln>
                        <a:solidFill>
                          <a:schemeClr val="bg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noFill/>
                      <a:prstDash val="solid"/>
                    </a:lnL>
                    <a:lnR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3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  <a:ea typeface="+mn-lt"/>
                          <a:cs typeface="+mn-lt"/>
                        </a:rPr>
                        <a:t>📍5호선 거여역 도보 1분 </a:t>
                      </a:r>
                      <a:r>
                        <a:t/>
                      </a:r>
                      <a:br/>
                      <a:r>
                        <a:t/>
                      </a:r>
                      <a:br/>
                      <a:r>
                        <a:rPr sz="13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  <a:ea typeface="+mn-lt"/>
                          <a:cs typeface="+mn-lt"/>
                        </a:rPr>
                        <a:t>📍 공영주차장 도보 3분 미만,  </a:t>
                      </a:r>
                      <a:r>
                        <a:rPr sz="900" b="1" i="0" u="none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+mn-lt"/>
                          <a:ea typeface="+mn-lt"/>
                          <a:cs typeface="+mn-lt"/>
                        </a:rPr>
                        <a:t>( 30분당 - 600원 )</a:t>
                      </a:r>
                      <a:r>
                        <a:t/>
                      </a:r>
                      <a:br/>
                      <a:r>
                        <a:t/>
                      </a:r>
                      <a:br/>
                      <a:r>
                        <a:rPr sz="13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  <a:ea typeface="+mn-lt"/>
                          <a:cs typeface="+mn-lt"/>
                        </a:rPr>
                        <a:t>📍2022년 09월 준공, 신축급 사무실</a:t>
                      </a:r>
                      <a:r>
                        <a:t/>
                      </a:r>
                      <a:br/>
                      <a:endParaRPr sz="1300" b="1" i="0" u="none" cap="none" baseline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3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  <a:ea typeface="+mn-lt"/>
                          <a:cs typeface="+mn-lt"/>
                        </a:rPr>
                        <a:t>📍5층 단독층 사용으로 프라이빗한 사무실</a:t>
                      </a:r>
                      <a:r>
                        <a:t/>
                      </a:r>
                      <a:br/>
                      <a:endParaRPr sz="1300" b="1" i="0" u="none" cap="none" baseline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300" b="1" i="0" u="none" cap="none">
                          <a:ln>
                            <a:noFill/>
                          </a:ln>
                          <a:solidFill>
                            <a:schemeClr val="tx1"/>
                          </a:solidFill>
                          <a:latin typeface="+mn-lt"/>
                          <a:ea typeface="+mn-lt"/>
                          <a:cs typeface="+mn-lt"/>
                        </a:rPr>
                        <a:t>📍층고 3M , 채광 , 화사한 사무실</a:t>
                      </a:r>
                      <a:endParaRPr sz="1300" b="1" i="0" u="none" cap="none" baseline="0">
                        <a:ln>
                          <a:noFill/>
                        </a:ln>
                        <a:solidFill>
                          <a:schemeClr val="tx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91439" marR="91439" marT="45728" marB="45728" anchor="ctr" horzOverflow="overflow">
                    <a:lnL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T>
                    <a:lnB w="12700" cmpd="sng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6421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xmlns="" id="{95EB150A-D79F-4639-9CF6-B6686C819171}"/>
              </a:ext>
            </a:extLst>
          </p:cNvPr>
          <p:cNvSpPr>
            <a:spLocks noGrp="1"/>
          </p:cNvSpPr>
          <p:nvPr/>
        </p:nvSpPr>
        <p:spPr>
          <a:xfrm>
            <a:off x="166654" y="142852"/>
            <a:ext cx="9572692" cy="785818"/>
          </a:xfrm>
          <a:prstGeom prst="rect">
            <a:avLst/>
          </a:prstGeom>
          <a:solidFill>
            <a:srgbClr val="0F1E36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397901DB-7CE4-4D80-BAED-B6B3AC7C2442}"/>
              </a:ext>
            </a:extLst>
          </p:cNvPr>
          <p:cNvSpPr>
            <a:spLocks noGrp="1"/>
          </p:cNvSpPr>
          <p:nvPr/>
        </p:nvSpPr>
        <p:spPr>
          <a:xfrm>
            <a:off x="495271" y="1081071"/>
            <a:ext cx="4464873" cy="243972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900">
              <a:solidFill>
                <a:schemeClr val="tx1">
                  <a:lumMod val="65000"/>
                  <a:lumOff val="35000"/>
                </a:schemeClr>
              </a:solidFill>
              <a:latin typeface="에스코어 드림 5 Medium"/>
              <a:ea typeface="에스코어 드림 5 Medium"/>
              <a:cs typeface="에스코어 드림 5 Medium"/>
            </a:endParaRPr>
          </a:p>
        </p:txBody>
      </p:sp>
      <p:sp>
        <p:nvSpPr>
          <p:cNvPr id="314" name="직사각형 313">
            <a:extLst>
              <a:ext uri="{FF2B5EF4-FFF2-40B4-BE49-F238E27FC236}">
                <a16:creationId xmlns:a16="http://schemas.microsoft.com/office/drawing/2014/main" xmlns="" id="{99C8655A-5A52-437A-BD9F-5B21517C0AFE}"/>
              </a:ext>
            </a:extLst>
          </p:cNvPr>
          <p:cNvSpPr>
            <a:spLocks noGrp="1"/>
          </p:cNvSpPr>
          <p:nvPr/>
        </p:nvSpPr>
        <p:spPr>
          <a:xfrm>
            <a:off x="495269" y="3528516"/>
            <a:ext cx="4464873" cy="2546359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900">
              <a:solidFill>
                <a:schemeClr val="tx1">
                  <a:lumMod val="65000"/>
                  <a:lumOff val="35000"/>
                </a:schemeClr>
              </a:solidFill>
              <a:latin typeface="에스코어 드림 5 Medium"/>
              <a:ea typeface="에스코어 드림 5 Medium"/>
              <a:cs typeface="에스코어 드림 5 Medium"/>
            </a:endParaRPr>
          </a:p>
        </p:txBody>
      </p:sp>
      <p:sp>
        <p:nvSpPr>
          <p:cNvPr id="103" name="직사각형 102">
            <a:extLst>
              <a:ext uri="{FF2B5EF4-FFF2-40B4-BE49-F238E27FC236}">
                <a16:creationId xmlns:a16="http://schemas.microsoft.com/office/drawing/2014/main" xmlns="" id="{2E369BC6-9E1A-473E-BC39-1B7873305E93}"/>
              </a:ext>
            </a:extLst>
          </p:cNvPr>
          <p:cNvSpPr>
            <a:spLocks noGrp="1"/>
          </p:cNvSpPr>
          <p:nvPr/>
        </p:nvSpPr>
        <p:spPr>
          <a:xfrm>
            <a:off x="4960146" y="1081071"/>
            <a:ext cx="4464873" cy="2439720"/>
          </a:xfrm>
          <a:prstGeom prst="rect">
            <a:avLst/>
          </a:prstGeom>
          <a:blipFill>
            <a:blip r:embed="rId5"/>
            <a:stretch>
              <a:fillRect/>
            </a:stretch>
          </a:blip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900">
              <a:solidFill>
                <a:schemeClr val="tx1">
                  <a:lumMod val="65000"/>
                  <a:lumOff val="35000"/>
                </a:schemeClr>
              </a:solidFill>
              <a:latin typeface="에스코어 드림 5 Medium"/>
              <a:ea typeface="에스코어 드림 5 Medium"/>
              <a:cs typeface="에스코어 드림 5 Medium"/>
            </a:endParaRP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xmlns="" id="{901AC2FD-DB6F-43F0-AB6D-39CAAADBA406}"/>
              </a:ext>
            </a:extLst>
          </p:cNvPr>
          <p:cNvSpPr>
            <a:spLocks noGrp="1"/>
          </p:cNvSpPr>
          <p:nvPr/>
        </p:nvSpPr>
        <p:spPr>
          <a:xfrm>
            <a:off x="4953000" y="3528516"/>
            <a:ext cx="4464873" cy="2546358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900">
              <a:solidFill>
                <a:schemeClr val="tx1">
                  <a:lumMod val="65000"/>
                  <a:lumOff val="35000"/>
                </a:schemeClr>
              </a:solidFill>
              <a:latin typeface="에스코어 드림 5 Medium"/>
              <a:ea typeface="에스코어 드림 5 Medium"/>
              <a:cs typeface="에스코어 드림 5 Medium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xmlns="" id="{1A709720-B9C0-4806-A760-E7C4F519A41E}"/>
              </a:ext>
            </a:extLst>
          </p:cNvPr>
          <p:cNvSpPr>
            <a:spLocks noGrp="1"/>
          </p:cNvSpPr>
          <p:nvPr/>
        </p:nvSpPr>
        <p:spPr>
          <a:xfrm>
            <a:off x="238092" y="247743"/>
            <a:ext cx="3719288" cy="584775"/>
          </a:xfrm>
          <a:prstGeom prst="rect">
            <a:avLst/>
          </a:prstGeom>
          <a:noFill/>
          <a:ln>
            <a:solidFill/>
          </a:ln>
        </p:spPr>
        <p:txBody>
          <a:bodyPr wrap="none">
            <a:spAutoFit/>
          </a:bodyPr>
          <a:lstStyle/>
          <a:p>
            <a:r>
              <a:rPr sz="3200" cap="all">
                <a:solidFill>
                  <a:srgbClr val="FFBD00"/>
                </a:solidFill>
                <a:latin typeface="에스코어 드림 5 Medium"/>
                <a:ea typeface="에스코어 드림 5 Medium"/>
                <a:cs typeface="에스코어 드림 5 Medium"/>
              </a:rPr>
              <a:t>L</a:t>
            </a:r>
            <a:r>
              <a:rPr sz="2400" cap="all">
                <a:solidFill>
                  <a:schemeClr val="bg1"/>
                </a:solidFill>
                <a:latin typeface="에스코어 드림 5 Medium"/>
                <a:ea typeface="에스코어 드림 5 Medium"/>
                <a:cs typeface="에스코어 드림 5 Medium"/>
              </a:rPr>
              <a:t>easing Information</a:t>
            </a:r>
          </a:p>
        </p:txBody>
      </p:sp>
      <p:pic>
        <p:nvPicPr>
          <p:cNvPr id="322" name="Picture 3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7383553" y="6269814"/>
            <a:ext cx="2526357" cy="588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2686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xmlns="" id="{FC797213-BA00-443D-8790-DD0B82B85A8F}"/>
              </a:ext>
            </a:extLst>
          </p:cNvPr>
          <p:cNvSpPr>
            <a:spLocks noGrp="1"/>
          </p:cNvSpPr>
          <p:nvPr/>
        </p:nvSpPr>
        <p:spPr>
          <a:xfrm>
            <a:off x="166654" y="142852"/>
            <a:ext cx="9572692" cy="765868"/>
          </a:xfrm>
          <a:prstGeom prst="rect">
            <a:avLst/>
          </a:prstGeom>
          <a:solidFill>
            <a:srgbClr val="0F1E36"/>
          </a:solidFill>
          <a:ln>
            <a:solid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702D5267-EC07-43CE-8560-0B0AEF4CC0F0}"/>
              </a:ext>
            </a:extLst>
          </p:cNvPr>
          <p:cNvSpPr>
            <a:spLocks noGrp="1"/>
          </p:cNvSpPr>
          <p:nvPr/>
        </p:nvSpPr>
        <p:spPr>
          <a:xfrm>
            <a:off x="238092" y="247057"/>
            <a:ext cx="1662122" cy="584775"/>
          </a:xfrm>
          <a:prstGeom prst="rect">
            <a:avLst/>
          </a:prstGeom>
          <a:noFill/>
          <a:ln>
            <a:solidFill/>
          </a:ln>
        </p:spPr>
        <p:txBody>
          <a:bodyPr wrap="none">
            <a:spAutoFit/>
          </a:bodyPr>
          <a:lstStyle/>
          <a:p>
            <a:r>
              <a:rPr sz="3200" cap="all">
                <a:solidFill>
                  <a:srgbClr val="FFBD00"/>
                </a:solidFill>
                <a:latin typeface="에스코어 드림 5 Medium"/>
                <a:ea typeface="에스코어 드림 5 Medium"/>
                <a:cs typeface="에스코어 드림 5 Medium"/>
              </a:rPr>
              <a:t>C</a:t>
            </a:r>
            <a:r>
              <a:rPr sz="2400" cap="all">
                <a:solidFill>
                  <a:schemeClr val="bg1"/>
                </a:solidFill>
                <a:latin typeface="에스코어 드림 5 Medium"/>
                <a:ea typeface="에스코어 드림 5 Medium"/>
                <a:cs typeface="에스코어 드림 5 Medium"/>
              </a:rPr>
              <a:t>ontact</a:t>
            </a:r>
          </a:p>
        </p:txBody>
      </p:sp>
      <p:pic>
        <p:nvPicPr>
          <p:cNvPr id="21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568624" y="2060848"/>
            <a:ext cx="6650622" cy="3744416"/>
          </a:xfrm>
          <a:prstGeom prst="rect">
            <a:avLst/>
          </a:prstGeom>
        </p:spPr>
      </p:pic>
      <p:pic>
        <p:nvPicPr>
          <p:cNvPr id="22" name="Picture 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379643" y="6269814"/>
            <a:ext cx="2526357" cy="588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8546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</Words>
  <Application>Microsoft Office PowerPoint</Application>
  <DocSecurity>0</DocSecurity>
  <PresentationFormat>A4 용지(210x297mm)</PresentationFormat>
  <Paragraphs>34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굴림</vt:lpstr>
      <vt:lpstr>Arial</vt:lpstr>
      <vt:lpstr>맑은 고딕</vt:lpstr>
      <vt:lpstr>에스코어 드림 5 Medium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박찬영</cp:lastModifiedBy>
  <cp:revision>2</cp:revision>
  <dcterms:created xsi:type="dcterms:W3CDTF">2026-08-18T07:27:55Z</dcterms:created>
  <dcterms:modified xsi:type="dcterms:W3CDTF">2026-08-18T08:01:01Z</dcterms:modified>
</cp:coreProperties>
</file>